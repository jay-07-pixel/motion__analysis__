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8988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89888"/>
            <a:ext cx="12191695" cy="64008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SLIDE 1   ·   PROBLEM STATEMENT  &amp;  PROJECT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2D &amp; 3D Motion Analysis Using a Single RGB-D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5D4E8"/>
                </a:solidFill>
                <a:latin typeface="Calibri"/>
              </a:rPr>
              <a:t>Intel RealSense D455f   ·   compact, real-time, single-camera motion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609344"/>
            <a:ext cx="769924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609344"/>
            <a:ext cx="91440" cy="129844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3504" y="1700784"/>
            <a:ext cx="72969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06C5C"/>
                </a:solidFill>
                <a:latin typeface="Calibri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975104"/>
            <a:ext cx="7260336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332"/>
                </a:solidFill>
                <a:latin typeface="Calibri"/>
              </a:rPr>
              <a:t>Traditional motion-analysis systems often rely on expensive multi-camera motion-capture setups or specialized sensors. There is a need for a compact, real-time and accessible system that can capture human movement and extract meaningful joint-level motion data using a single camera.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3017520"/>
            <a:ext cx="7699248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3017520"/>
            <a:ext cx="91440" cy="1627632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" y="3108960"/>
            <a:ext cx="72969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PROJECT 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383280"/>
            <a:ext cx="72603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▸   Develop a 2D + 3D human motion analysis system using a single Intel RealSense D455f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▸   Detect human body joints and quantify movement parameters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▸   Support both live camera input and recorded video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▸   Provide a foundation for real-world 3D motion measurement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4754880"/>
            <a:ext cx="7699248" cy="1719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4754880"/>
            <a:ext cx="91440" cy="1719072"/>
          </a:xfrm>
          <a:prstGeom prst="rect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3504" y="4846320"/>
            <a:ext cx="729691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A338"/>
                </a:solidFill>
                <a:latin typeface="Calibri"/>
              </a:rPr>
              <a:t>CURRENT PROGRESS  —  2D PHASE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5120640"/>
            <a:ext cx="7260336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▸   33 body landmarks detected using MediaPipe Pose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▸   Joint coordinates represented in RGB image pixels (u, v)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▸   Elbow angles calculated in the image plane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▸   Wrist trajectory and pixel velocity calculated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A2332"/>
                </a:solidFill>
                <a:latin typeface="Calibri"/>
              </a:rPr>
              <a:t>▸   CSV / video output and post-session analysis report implemented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1609344"/>
            <a:ext cx="3621024" cy="2487168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455f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1682496"/>
            <a:ext cx="3438144" cy="1783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39328" y="3493008"/>
            <a:ext cx="336499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1FB5A6"/>
                </a:solidFill>
                <a:latin typeface="Calibri"/>
              </a:rPr>
              <a:t>INTEL REALSENSE  D455f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730752"/>
            <a:ext cx="336499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C5D4E8"/>
                </a:solidFill>
                <a:latin typeface="Calibri"/>
              </a:rPr>
              <a:t>Single RGB-D camera  ·  USB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11312" y="4224528"/>
            <a:ext cx="3621024" cy="841248"/>
          </a:xfrm>
          <a:prstGeom prst="roundRect">
            <a:avLst>
              <a:gd name="adj" fmla="val 12000"/>
            </a:avLst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57616" y="4315968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2D   ·   COMPLETED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4590288"/>
            <a:ext cx="3328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8FFFB"/>
                </a:solidFill>
                <a:latin typeface="Calibri"/>
              </a:rPr>
              <a:t>RGB joints, elbow °, wrist path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9784080" y="5120640"/>
            <a:ext cx="475488" cy="256032"/>
          </a:xfrm>
          <a:prstGeom prst="downArrow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211312" y="5431536"/>
            <a:ext cx="3621024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E8A3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57616" y="5522976"/>
            <a:ext cx="33284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E8A338"/>
                </a:solidFill>
                <a:latin typeface="Calibri"/>
              </a:rPr>
              <a:t>3D   ·   NEXT PHASE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5797296"/>
            <a:ext cx="33284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A6678"/>
                </a:solidFill>
                <a:latin typeface="Calibri"/>
              </a:rPr>
              <a:t>Depth → camera metres / m/s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Current status    ·    2D analysis completed     →     3D depth-based analysis is the next phase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533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91695" cy="64008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SLIDE 2   ·   SOLUTION  &amp;  SYSTEM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Proposed Solution — End-to-End Motion Analysis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5D4E8"/>
                </a:solidFill>
                <a:latin typeface="Calibri"/>
              </a:rPr>
              <a:t>2D path is built     ·     dashed 3D path is the next phase, not implemented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554480"/>
            <a:ext cx="11484864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554480"/>
            <a:ext cx="91440" cy="530352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1627632"/>
            <a:ext cx="111191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332"/>
                </a:solidFill>
                <a:latin typeface="Calibri"/>
              </a:rPr>
              <a:t>A single RGB-D camera captures the subject, MediaPipe extracts 33 body landmarks, and the system converts these landmarks into measurable motion parameters.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57984"/>
            <a:ext cx="5486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B5A6"/>
                </a:solidFill>
                <a:latin typeface="Calibri"/>
              </a:rPr>
              <a:t>BUILT   ·   2D MOTION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2414016"/>
            <a:ext cx="1960473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2414016"/>
            <a:ext cx="1960473" cy="73152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2560320"/>
            <a:ext cx="1777593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B5A6"/>
                </a:solidFill>
                <a:latin typeface="Calibri"/>
              </a:rPr>
              <a:t>01 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" y="2852928"/>
            <a:ext cx="1777593" cy="420624"/>
          </a:xfrm>
          <a:prstGeom prst="roundRect">
            <a:avLst>
              <a:gd name="adj" fmla="val 18000"/>
            </a:avLst>
          </a:prstGeom>
          <a:solidFill>
            <a:srgbClr val="F6F3EE"/>
          </a:solidFill>
          <a:ln w="9525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2926080"/>
            <a:ext cx="16678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2"/>
                </a:solidFill>
                <a:latin typeface="Calibri"/>
              </a:rPr>
              <a:t>Live D455f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" y="3346704"/>
            <a:ext cx="1777593" cy="420624"/>
          </a:xfrm>
          <a:prstGeom prst="roundRect">
            <a:avLst>
              <a:gd name="adj" fmla="val 18000"/>
            </a:avLst>
          </a:prstGeom>
          <a:solidFill>
            <a:srgbClr val="F6F3EE"/>
          </a:solidFill>
          <a:ln w="9525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" y="3419856"/>
            <a:ext cx="16678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2"/>
                </a:solidFill>
                <a:latin typeface="Calibri"/>
              </a:rPr>
              <a:t>Uploaded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4151376"/>
            <a:ext cx="17775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678"/>
                </a:solidFill>
                <a:latin typeface="Calibri"/>
              </a:rPr>
              <a:t>two sources, one pipeline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381097" y="3364992"/>
            <a:ext cx="256032" cy="182880"/>
          </a:xfrm>
          <a:prstGeom prst="right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28569" y="2414016"/>
            <a:ext cx="1960473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28569" y="2414016"/>
            <a:ext cx="1960473" cy="73152"/>
          </a:xfrm>
          <a:prstGeom prst="rect">
            <a:avLst/>
          </a:prstGeom>
          <a:solidFill>
            <a:srgbClr val="14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20009" y="2560320"/>
            <a:ext cx="1777593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43258"/>
                </a:solidFill>
                <a:latin typeface="Calibri"/>
              </a:rPr>
              <a:t>02  RGB FRAME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20009" y="2852928"/>
            <a:ext cx="1777593" cy="420624"/>
          </a:xfrm>
          <a:prstGeom prst="roundRect">
            <a:avLst>
              <a:gd name="adj" fmla="val 18000"/>
            </a:avLst>
          </a:prstGeom>
          <a:solidFill>
            <a:srgbClr val="F6F3EE"/>
          </a:solidFill>
          <a:ln w="9525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74873" y="2926080"/>
            <a:ext cx="16678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2"/>
                </a:solidFill>
                <a:latin typeface="Calibri"/>
              </a:rPr>
              <a:t>Colour frame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20009" y="3346704"/>
            <a:ext cx="1777593" cy="420624"/>
          </a:xfrm>
          <a:prstGeom prst="roundRect">
            <a:avLst>
              <a:gd name="adj" fmla="val 18000"/>
            </a:avLst>
          </a:prstGeom>
          <a:solidFill>
            <a:srgbClr val="F6F3EE"/>
          </a:solidFill>
          <a:ln w="9525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74873" y="3419856"/>
            <a:ext cx="16678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2"/>
                </a:solidFill>
                <a:latin typeface="Calibri"/>
              </a:rPr>
              <a:t>capture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20009" y="4151376"/>
            <a:ext cx="17775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678"/>
                </a:solidFill>
                <a:latin typeface="Calibri"/>
              </a:rPr>
              <a:t>image plane only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762195" y="3364992"/>
            <a:ext cx="256032" cy="182880"/>
          </a:xfrm>
          <a:prstGeom prst="right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109667" y="2414016"/>
            <a:ext cx="1960473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109667" y="2414016"/>
            <a:ext cx="1960473" cy="73152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01107" y="2560320"/>
            <a:ext cx="1777593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B5A6"/>
                </a:solidFill>
                <a:latin typeface="Calibri"/>
              </a:rPr>
              <a:t>03  MEDIAPIPE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01107" y="2852928"/>
            <a:ext cx="1777593" cy="420624"/>
          </a:xfrm>
          <a:prstGeom prst="roundRect">
            <a:avLst>
              <a:gd name="adj" fmla="val 18000"/>
            </a:avLst>
          </a:prstGeom>
          <a:solidFill>
            <a:srgbClr val="F6F3EE"/>
          </a:solidFill>
          <a:ln w="9525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55971" y="2926080"/>
            <a:ext cx="16678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2"/>
                </a:solidFill>
                <a:latin typeface="Calibri"/>
              </a:rPr>
              <a:t>33 landmarks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01107" y="3346704"/>
            <a:ext cx="1777593" cy="420624"/>
          </a:xfrm>
          <a:prstGeom prst="roundRect">
            <a:avLst>
              <a:gd name="adj" fmla="val 18000"/>
            </a:avLst>
          </a:prstGeom>
          <a:solidFill>
            <a:srgbClr val="F6F3EE"/>
          </a:solidFill>
          <a:ln w="9525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255971" y="3419856"/>
            <a:ext cx="16678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2"/>
                </a:solidFill>
                <a:latin typeface="Calibri"/>
              </a:rPr>
              <a:t>2D pixels (u, v)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01107" y="4151376"/>
            <a:ext cx="17775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678"/>
                </a:solidFill>
                <a:latin typeface="Calibri"/>
              </a:rPr>
              <a:t>origin: top-left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143292" y="3364992"/>
            <a:ext cx="256032" cy="182880"/>
          </a:xfrm>
          <a:prstGeom prst="right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490764" y="2414016"/>
            <a:ext cx="1960473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490764" y="2414016"/>
            <a:ext cx="1960473" cy="73152"/>
          </a:xfrm>
          <a:prstGeom prst="rect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2204" y="2560320"/>
            <a:ext cx="1777593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8A338"/>
                </a:solidFill>
                <a:latin typeface="Calibri"/>
              </a:rPr>
              <a:t>04  ANALYSIS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2204" y="2852928"/>
            <a:ext cx="1777593" cy="420624"/>
          </a:xfrm>
          <a:prstGeom prst="roundRect">
            <a:avLst>
              <a:gd name="adj" fmla="val 18000"/>
            </a:avLst>
          </a:prstGeom>
          <a:solidFill>
            <a:srgbClr val="F6F3EE"/>
          </a:solidFill>
          <a:ln w="9525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37068" y="2926080"/>
            <a:ext cx="16678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2"/>
                </a:solidFill>
                <a:latin typeface="Calibri"/>
              </a:rPr>
              <a:t>Elbow angle (image °)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82204" y="3346704"/>
            <a:ext cx="1777593" cy="420624"/>
          </a:xfrm>
          <a:prstGeom prst="roundRect">
            <a:avLst>
              <a:gd name="adj" fmla="val 18000"/>
            </a:avLst>
          </a:prstGeom>
          <a:solidFill>
            <a:srgbClr val="F6F3EE"/>
          </a:solidFill>
          <a:ln w="9525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637068" y="3419856"/>
            <a:ext cx="16678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2"/>
                </a:solidFill>
                <a:latin typeface="Calibri"/>
              </a:rPr>
              <a:t>Wrist trail + px/s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2204" y="4151376"/>
            <a:ext cx="17775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678"/>
                </a:solidFill>
                <a:latin typeface="Calibri"/>
              </a:rPr>
              <a:t>angles  +  trajectory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9524390" y="3364992"/>
            <a:ext cx="256032" cy="182880"/>
          </a:xfrm>
          <a:prstGeom prst="right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871862" y="2414016"/>
            <a:ext cx="1960473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871862" y="2414016"/>
            <a:ext cx="1960473" cy="73152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963302" y="2560320"/>
            <a:ext cx="1777593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E06C5C"/>
                </a:solidFill>
                <a:latin typeface="Calibri"/>
              </a:rPr>
              <a:t>05  OUTPUT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963302" y="2852928"/>
            <a:ext cx="1777593" cy="420624"/>
          </a:xfrm>
          <a:prstGeom prst="roundRect">
            <a:avLst>
              <a:gd name="adj" fmla="val 18000"/>
            </a:avLst>
          </a:prstGeom>
          <a:solidFill>
            <a:srgbClr val="F6F3EE"/>
          </a:solidFill>
          <a:ln w="9525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18166" y="2926080"/>
            <a:ext cx="16678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2"/>
                </a:solidFill>
                <a:latin typeface="Calibri"/>
              </a:rPr>
              <a:t>Visualization &amp; report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963302" y="3346704"/>
            <a:ext cx="1777593" cy="420624"/>
          </a:xfrm>
          <a:prstGeom prst="roundRect">
            <a:avLst>
              <a:gd name="adj" fmla="val 18000"/>
            </a:avLst>
          </a:prstGeom>
          <a:solidFill>
            <a:srgbClr val="F6F3EE"/>
          </a:solidFill>
          <a:ln w="9525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018166" y="3419856"/>
            <a:ext cx="166786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2332"/>
                </a:solidFill>
                <a:latin typeface="Calibri"/>
              </a:rPr>
              <a:t>CSV + overlay video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3302" y="4151376"/>
            <a:ext cx="177759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678"/>
                </a:solidFill>
                <a:latin typeface="Calibri"/>
              </a:rPr>
              <a:t>post-session graphs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47472" y="4645152"/>
            <a:ext cx="11484864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E8A33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7200" y="4718304"/>
            <a:ext cx="112654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A338"/>
                </a:solidFill>
                <a:latin typeface="Calibri"/>
              </a:rPr>
              <a:t>3D EXTENSION   ·   NEXT PHASE   ·   NOT IMPLEMENTED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30352" y="5029200"/>
            <a:ext cx="1945843" cy="1207008"/>
          </a:xfrm>
          <a:prstGeom prst="roundRect">
            <a:avLst>
              <a:gd name="adj" fmla="val 10000"/>
            </a:avLst>
          </a:prstGeom>
          <a:solidFill>
            <a:srgbClr val="F6F3EE"/>
          </a:solidFill>
          <a:ln w="15875">
            <a:solidFill>
              <a:srgbClr val="E8A33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03503" y="5230368"/>
            <a:ext cx="17995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5A6678"/>
                </a:solidFill>
                <a:latin typeface="Calibri"/>
              </a:rPr>
              <a:t>2D pixel (u, v)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5A6678"/>
                </a:solidFill>
                <a:latin typeface="Calibri"/>
              </a:rPr>
              <a:t>+ RealSense depth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2531059" y="5541264"/>
            <a:ext cx="256032" cy="182880"/>
          </a:xfrm>
          <a:prstGeom prst="rightArrow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2823667" y="5029200"/>
            <a:ext cx="1945843" cy="1207008"/>
          </a:xfrm>
          <a:prstGeom prst="roundRect">
            <a:avLst>
              <a:gd name="adj" fmla="val 10000"/>
            </a:avLst>
          </a:prstGeom>
          <a:solidFill>
            <a:srgbClr val="F6F3EE"/>
          </a:solidFill>
          <a:ln w="15875">
            <a:solidFill>
              <a:srgbClr val="E8A33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896819" y="5230368"/>
            <a:ext cx="17995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5A6678"/>
                </a:solidFill>
                <a:latin typeface="Calibri"/>
              </a:rPr>
              <a:t>Depth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5A6678"/>
                </a:solidFill>
                <a:latin typeface="Calibri"/>
              </a:rPr>
              <a:t>alignment</a:t>
            </a:r>
          </a:p>
        </p:txBody>
      </p:sp>
      <p:sp>
        <p:nvSpPr>
          <p:cNvPr id="63" name="Right Arrow 62"/>
          <p:cNvSpPr/>
          <p:nvPr/>
        </p:nvSpPr>
        <p:spPr>
          <a:xfrm>
            <a:off x="4824374" y="5541264"/>
            <a:ext cx="256032" cy="182880"/>
          </a:xfrm>
          <a:prstGeom prst="rightArrow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5116982" y="5029200"/>
            <a:ext cx="1945843" cy="1207008"/>
          </a:xfrm>
          <a:prstGeom prst="roundRect">
            <a:avLst>
              <a:gd name="adj" fmla="val 10000"/>
            </a:avLst>
          </a:prstGeom>
          <a:solidFill>
            <a:srgbClr val="F6F3EE"/>
          </a:solidFill>
          <a:ln w="15875">
            <a:solidFill>
              <a:srgbClr val="E8A33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190134" y="5230368"/>
            <a:ext cx="17995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5A6678"/>
                </a:solidFill>
                <a:latin typeface="Calibri"/>
              </a:rPr>
              <a:t>3D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5A6678"/>
                </a:solidFill>
                <a:latin typeface="Calibri"/>
              </a:rPr>
              <a:t>deprojection</a:t>
            </a:r>
          </a:p>
        </p:txBody>
      </p:sp>
      <p:sp>
        <p:nvSpPr>
          <p:cNvPr id="66" name="Right Arrow 65"/>
          <p:cNvSpPr/>
          <p:nvPr/>
        </p:nvSpPr>
        <p:spPr>
          <a:xfrm>
            <a:off x="7117689" y="5541264"/>
            <a:ext cx="256032" cy="182880"/>
          </a:xfrm>
          <a:prstGeom prst="rightArrow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7410297" y="5029200"/>
            <a:ext cx="1945843" cy="1207008"/>
          </a:xfrm>
          <a:prstGeom prst="roundRect">
            <a:avLst>
              <a:gd name="adj" fmla="val 10000"/>
            </a:avLst>
          </a:prstGeom>
          <a:solidFill>
            <a:srgbClr val="F6F3EE"/>
          </a:solidFill>
          <a:ln w="15875">
            <a:solidFill>
              <a:srgbClr val="E8A33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483449" y="5230368"/>
            <a:ext cx="17995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5A6678"/>
                </a:solidFill>
                <a:latin typeface="Calibri"/>
              </a:rPr>
              <a:t>Camera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5A6678"/>
                </a:solidFill>
                <a:latin typeface="Calibri"/>
              </a:rPr>
              <a:t>coordinates (m)</a:t>
            </a:r>
          </a:p>
        </p:txBody>
      </p:sp>
      <p:sp>
        <p:nvSpPr>
          <p:cNvPr id="69" name="Right Arrow 68"/>
          <p:cNvSpPr/>
          <p:nvPr/>
        </p:nvSpPr>
        <p:spPr>
          <a:xfrm>
            <a:off x="9411004" y="5541264"/>
            <a:ext cx="256032" cy="182880"/>
          </a:xfrm>
          <a:prstGeom prst="rightArrow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9703612" y="5029200"/>
            <a:ext cx="1945843" cy="1207008"/>
          </a:xfrm>
          <a:prstGeom prst="roundRect">
            <a:avLst>
              <a:gd name="adj" fmla="val 10000"/>
            </a:avLst>
          </a:prstGeom>
          <a:solidFill>
            <a:srgbClr val="F6F3EE"/>
          </a:solidFill>
          <a:ln w="15875">
            <a:solidFill>
              <a:srgbClr val="E8A33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776764" y="5230368"/>
            <a:ext cx="1799539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5A6678"/>
                </a:solidFill>
                <a:latin typeface="Calibri"/>
              </a:rPr>
              <a:t>3D motion</a:t>
            </a:r>
          </a:p>
          <a:p>
            <a:pPr algn="ctr">
              <a:spcAft>
                <a:spcPts val="100"/>
              </a:spcAft>
            </a:pPr>
            <a:r>
              <a:rPr sz="1200" b="1">
                <a:solidFill>
                  <a:srgbClr val="5A6678"/>
                </a:solidFill>
                <a:latin typeface="Calibri"/>
              </a:rPr>
              <a:t>/ speed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Current implementation: RGB-based 2D motion analysis     ·     Next phase: RealSense depth integration for true 3D coordinates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533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91695" cy="64008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SLIDE 3   ·   TECHNOLOGY STACK  &amp; 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Technology Stack &amp; 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5D4E8"/>
                </a:solidFill>
                <a:latin typeface="Calibri"/>
              </a:rPr>
              <a:t>Modular 2D pipeline   ·   hardware, vision, app, data   ·   ready for depth later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536192"/>
            <a:ext cx="7571231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536192"/>
            <a:ext cx="91440" cy="749808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6" y="1609344"/>
            <a:ext cx="72054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865376"/>
            <a:ext cx="7168895" cy="347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A2332"/>
                </a:solidFill>
                <a:latin typeface="Calibri"/>
              </a:rPr>
              <a:t>Intel RealSense D455f</a:t>
            </a:r>
            <a:r>
              <a:rPr sz="1200" b="0">
                <a:solidFill>
                  <a:srgbClr val="5A6678"/>
                </a:solidFill>
                <a:latin typeface="Calibri"/>
              </a:rPr>
              <a:t>    RGB-D camera  ·  USB 3.0  ·  future depth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2377439"/>
            <a:ext cx="7571231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" y="2377439"/>
            <a:ext cx="91440" cy="1024128"/>
          </a:xfrm>
          <a:prstGeom prst="rect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" y="2450591"/>
            <a:ext cx="72054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A338"/>
                </a:solidFill>
                <a:latin typeface="Calibri"/>
              </a:rPr>
              <a:t>COMPUTER VISION  &amp; 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2706623"/>
            <a:ext cx="716889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A2332"/>
                </a:solidFill>
                <a:latin typeface="Calibri"/>
              </a:rPr>
              <a:t>MediaPipe Pose</a:t>
            </a:r>
            <a:r>
              <a:rPr sz="1200" b="0">
                <a:solidFill>
                  <a:srgbClr val="5A6678"/>
                </a:solidFill>
                <a:latin typeface="Calibri"/>
              </a:rPr>
              <a:t>    33 body landmarks  ·  real-time pose estimation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2332"/>
                </a:solidFill>
                <a:latin typeface="Calibri"/>
              </a:rPr>
              <a:t>OpenCV</a:t>
            </a:r>
            <a:r>
              <a:rPr sz="1200" b="0">
                <a:solidFill>
                  <a:srgbClr val="5A6678"/>
                </a:solidFill>
                <a:latin typeface="Calibri"/>
              </a:rPr>
              <a:t>    Frame processing  ·  video I/O  ·  overlay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3493008"/>
            <a:ext cx="7571231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7472" y="3493008"/>
            <a:ext cx="91440" cy="1298448"/>
          </a:xfrm>
          <a:prstGeom prst="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3566160"/>
            <a:ext cx="72054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06C5C"/>
                </a:solidFill>
                <a:latin typeface="Calibri"/>
              </a:rPr>
              <a:t>APPLICATION DEVELOPMENT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3822192"/>
            <a:ext cx="7168895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A2332"/>
                </a:solidFill>
                <a:latin typeface="Calibri"/>
              </a:rPr>
              <a:t>Python</a:t>
            </a:r>
            <a:r>
              <a:rPr sz="1200" b="0">
                <a:solidFill>
                  <a:srgbClr val="5A6678"/>
                </a:solidFill>
                <a:latin typeface="Calibri"/>
              </a:rPr>
              <a:t>    Core processing pipeline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2332"/>
                </a:solidFill>
                <a:latin typeface="Calibri"/>
              </a:rPr>
              <a:t>Tkinter</a:t>
            </a:r>
            <a:r>
              <a:rPr sz="1200" b="0">
                <a:solidFill>
                  <a:srgbClr val="5A6678"/>
                </a:solidFill>
                <a:latin typeface="Calibri"/>
              </a:rPr>
              <a:t>    Live UI  ·  camera / file  ·  session control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2332"/>
                </a:solidFill>
                <a:latin typeface="Calibri"/>
              </a:rPr>
              <a:t>Matplotlib</a:t>
            </a:r>
            <a:r>
              <a:rPr sz="1200" b="0">
                <a:solidFill>
                  <a:srgbClr val="5A6678"/>
                </a:solidFill>
                <a:latin typeface="Calibri"/>
              </a:rPr>
              <a:t>    Post-session graphs  ·  angle / time  ·  statistics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" y="4882896"/>
            <a:ext cx="7571231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" y="4882896"/>
            <a:ext cx="91440" cy="1024128"/>
          </a:xfrm>
          <a:prstGeom prst="rect">
            <a:avLst/>
          </a:prstGeom>
          <a:solidFill>
            <a:srgbClr val="14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" y="4956048"/>
            <a:ext cx="72054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43258"/>
                </a:solidFill>
                <a:latin typeface="Calibri"/>
              </a:rPr>
              <a:t>CONFIGURATION  &amp; 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5212080"/>
            <a:ext cx="7168895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A2332"/>
                </a:solidFill>
                <a:latin typeface="Calibri"/>
              </a:rPr>
              <a:t>YAML</a:t>
            </a:r>
            <a:r>
              <a:rPr sz="1200" b="0">
                <a:solidFill>
                  <a:srgbClr val="5A6678"/>
                </a:solidFill>
                <a:latin typeface="Calibri"/>
              </a:rPr>
              <a:t>    Central config — camera, pose, analysis, output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2332"/>
                </a:solidFill>
                <a:latin typeface="Calibri"/>
              </a:rPr>
              <a:t>CSV / JSON / MP4</a:t>
            </a:r>
            <a:r>
              <a:rPr sz="1200" b="0">
                <a:solidFill>
                  <a:srgbClr val="5A6678"/>
                </a:solidFill>
                <a:latin typeface="Calibri"/>
              </a:rPr>
              <a:t>    Motion data  ·  run metadata  ·  annotated video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83296" y="1536192"/>
            <a:ext cx="3749039" cy="4370832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93023" y="1627632"/>
            <a:ext cx="35295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B5A6"/>
                </a:solidFill>
                <a:latin typeface="Calibri"/>
              </a:rPr>
              <a:t>ARCHITECTURE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66175" y="1938528"/>
            <a:ext cx="3383279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39327" y="1975104"/>
            <a:ext cx="3236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Calibri"/>
              </a:rPr>
              <a:t>RealSense  /  Video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9857232" y="2386584"/>
            <a:ext cx="201168" cy="128016"/>
          </a:xfrm>
          <a:prstGeom prst="down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266175" y="2542032"/>
            <a:ext cx="3383279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9327" y="2578608"/>
            <a:ext cx="3236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Calibri"/>
              </a:rPr>
              <a:t>Capture layer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9857232" y="2990088"/>
            <a:ext cx="201168" cy="128016"/>
          </a:xfrm>
          <a:prstGeom prst="down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266175" y="3145536"/>
            <a:ext cx="3383279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39327" y="3182112"/>
            <a:ext cx="3236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Calibri"/>
              </a:rPr>
              <a:t>Pose estimation</a:t>
            </a:r>
          </a:p>
          <a:p>
            <a:pPr algn="ctr"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Calibri"/>
              </a:rPr>
              <a:t>(MediaPipe)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9857232" y="3593592"/>
            <a:ext cx="201168" cy="128016"/>
          </a:xfrm>
          <a:prstGeom prst="down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266175" y="3749040"/>
            <a:ext cx="3383279" cy="713232"/>
          </a:xfrm>
          <a:prstGeom prst="roundRect">
            <a:avLst>
              <a:gd name="adj" fmla="val 10000"/>
            </a:avLst>
          </a:prstGeom>
          <a:solidFill>
            <a:srgbClr val="143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66175" y="3767328"/>
            <a:ext cx="33832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5D4E8"/>
                </a:solidFill>
                <a:latin typeface="Calibri"/>
              </a:rPr>
              <a:t>Motion analysis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4005072"/>
            <a:ext cx="1609343" cy="384048"/>
          </a:xfrm>
          <a:prstGeom prst="roundRect">
            <a:avLst>
              <a:gd name="adj" fmla="val 18000"/>
            </a:avLst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21040" y="4059936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2D angles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85248" y="4005072"/>
            <a:ext cx="1609343" cy="384048"/>
          </a:xfrm>
          <a:prstGeom prst="roundRect">
            <a:avLst>
              <a:gd name="adj" fmla="val 18000"/>
            </a:avLst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985248" y="4059936"/>
            <a:ext cx="16093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Wrist motion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9857232" y="4471416"/>
            <a:ext cx="201168" cy="128016"/>
          </a:xfrm>
          <a:prstGeom prst="down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266175" y="4626864"/>
            <a:ext cx="3383279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39327" y="4663440"/>
            <a:ext cx="3236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Calibri"/>
              </a:rPr>
              <a:t>Visualization</a:t>
            </a:r>
          </a:p>
          <a:p>
            <a:pPr algn="ctr"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Calibri"/>
              </a:rPr>
              <a:t>&amp; reporting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9857232" y="5074920"/>
            <a:ext cx="201168" cy="128016"/>
          </a:xfrm>
          <a:prstGeom prst="downArrow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266175" y="5230368"/>
            <a:ext cx="3383279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39327" y="5266944"/>
            <a:ext cx="3236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A2332"/>
                </a:solidFill>
                <a:latin typeface="Calibri"/>
              </a:rPr>
              <a:t>CSV  /  video  /  report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7472" y="5998464"/>
            <a:ext cx="11484864" cy="420624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6071616"/>
            <a:ext cx="11265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Built as a modular pipeline   →   ready for RealSense depth integration in the 3D phase.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Jay   ·   IIT Guwahati   ·   python app.py   ·   config.yaml   ·   2D implemented, 3D not claimed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5331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53312"/>
            <a:ext cx="12191695" cy="64008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SLIDE 4   ·   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Literature Review — 2D Pose Estimation to 3D Motion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32688"/>
            <a:ext cx="11247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5D4E8"/>
                </a:solidFill>
                <a:latin typeface="Calibri"/>
              </a:rPr>
              <a:t>Two papers:  the 2D method we use now    ·    why a single RGB view is not enough for 3D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" y="1536192"/>
            <a:ext cx="5650992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" y="1536192"/>
            <a:ext cx="5650992" cy="73152"/>
          </a:xfrm>
          <a:prstGeom prst="rect">
            <a:avLst/>
          </a:prstGeom>
          <a:solidFill>
            <a:srgbClr val="1FB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682496"/>
            <a:ext cx="5285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PAPER 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248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2332"/>
                </a:solidFill>
                <a:latin typeface="Calibri"/>
              </a:rPr>
              <a:t>BlazePose: On-device Real-time Body Pose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42032"/>
            <a:ext cx="52486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Bazarevsky et al.,  Google Research  (2020)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79776"/>
            <a:ext cx="5285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WHAT IT PROVIDES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2486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▸   Real-time single-person pose from RGB image / video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▸   33 keypoints: shoulders, elbows, wrists, hips, knees, ankles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▸   Detector + tracker pipeline for on-device tracking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▸   Aimed at fitness, gesture recognition and 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87952"/>
            <a:ext cx="5285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06C5C"/>
                </a:solidFill>
                <a:latin typeface="Calibri"/>
              </a:rPr>
              <a:t>LIMITATION FOR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25696"/>
            <a:ext cx="52486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Calibri"/>
              </a:rPr>
              <a:t>RGB pose is 2D image information. Depth cannot be reliably obtained from a single RGB view — body parts moving toward / away from the camera stay ambiguous.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66944"/>
            <a:ext cx="5285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RELEVANCE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486400"/>
            <a:ext cx="5248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2332"/>
                </a:solidFill>
                <a:latin typeface="Calibri"/>
              </a:rPr>
              <a:t>Foundation of our current 2D phase through MediaPipe Pose.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1536192"/>
            <a:ext cx="5650992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81344" y="1536192"/>
            <a:ext cx="5650992" cy="73152"/>
          </a:xfrm>
          <a:prstGeom prst="rect">
            <a:avLst/>
          </a:prstGeom>
          <a:solidFill>
            <a:srgbClr val="E8A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1682496"/>
            <a:ext cx="5285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A338"/>
                </a:solidFill>
                <a:latin typeface="Calibri"/>
              </a:rPr>
              <a:t>PAPER 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1901952"/>
            <a:ext cx="52486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A2332"/>
                </a:solidFill>
                <a:latin typeface="Calibri"/>
              </a:rPr>
              <a:t>Accuracy Evaluation of 3D Pose Reconstruction through Stereo Fusion for Physical Exercises with MediaPipe 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542032"/>
            <a:ext cx="5248656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678"/>
                </a:solidFill>
                <a:latin typeface="Calibri"/>
              </a:rPr>
              <a:t>Dill et al.,  Sensors  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2779776"/>
            <a:ext cx="5285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8A338"/>
                </a:solidFill>
                <a:latin typeface="Calibri"/>
              </a:rPr>
              <a:t>WHAT IT STUDIES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3017520"/>
            <a:ext cx="52486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▸   3D pose reconstruction for physical-exercise analysis with MediaPipe Pose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▸   Two camera views + MediaPipe 2D landmarks + triangulation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▸   Compares reconstructed 3D pose with motion-capture ground truth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▸   Stereo fusion beats monocular 3D estimation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4187952"/>
            <a:ext cx="5285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E06C5C"/>
                </a:solidFill>
                <a:latin typeface="Calibri"/>
              </a:rPr>
              <a:t>KEY FINDING  /  LIMITATION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4425696"/>
            <a:ext cx="524865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A2332"/>
                </a:solidFill>
                <a:latin typeface="Calibri"/>
              </a:rPr>
              <a:t>3D from one RGB view is ill-posed: many 3D poses share the same 2D projection. MediaPipe “world” landmarks guess depth from an internal body model and are noisy.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5266944"/>
            <a:ext cx="52852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B5A6"/>
                </a:solidFill>
                <a:latin typeface="Calibri"/>
              </a:rPr>
              <a:t>RELEVANCE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5486400"/>
            <a:ext cx="5248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2332"/>
                </a:solidFill>
                <a:latin typeface="Calibri"/>
              </a:rPr>
              <a:t>Supports moving from 2D image measures to sensor-based 3D (RealSense depth).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" y="5998464"/>
            <a:ext cx="11484864" cy="420624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4E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071616"/>
            <a:ext cx="112654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Takeaway    ·    BlazePose / MediaPipe is our 2D base     →     Dill et al.: true 3D needs more than one RGB view  —  we will use RealSense depth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547104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FFFFF"/>
                </a:solidFill>
                <a:latin typeface="Calibri"/>
              </a:rPr>
              <a:t>Literature is exploratory for this progress talk   ·   we have not claimed a full survey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862</Words>
  <Application>Microsoft Office PowerPoint</Application>
  <PresentationFormat>Widescreen</PresentationFormat>
  <Paragraphs>117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 Jobanputra</cp:lastModifiedBy>
  <cp:revision>1</cp:revision>
  <dcterms:created xsi:type="dcterms:W3CDTF">2013-01-27T09:14:16Z</dcterms:created>
  <dcterms:modified xsi:type="dcterms:W3CDTF">2026-09-22T04:56:38Z</dcterms:modified>
  <cp:category/>
</cp:coreProperties>
</file>