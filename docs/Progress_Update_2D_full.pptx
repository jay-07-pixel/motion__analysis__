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8988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89888"/>
            <a:ext cx="12191695" cy="64008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5A6"/>
                </a:solidFill>
                <a:latin typeface="Calibri"/>
              </a:rPr>
              <a:t>SLIDE 1   ·   PROBLEM STATEMENT  &amp;  PROJECT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2D &amp; 3D Motion Analysis Using a Single RGB-D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3268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5D4E8"/>
                </a:solidFill>
                <a:latin typeface="Calibri"/>
              </a:rPr>
              <a:t>Intel RealSense D455f   ·   compact, real-time, single-camera motion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609344"/>
            <a:ext cx="769924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609344"/>
            <a:ext cx="91440" cy="129844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7296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06C5C"/>
                </a:solidFill>
                <a:latin typeface="Calibri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75104"/>
            <a:ext cx="726033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332"/>
                </a:solidFill>
                <a:latin typeface="Calibri"/>
              </a:rPr>
              <a:t>Traditional motion-analysis systems often rely on expensive multi-camera motion-capture setups or specialized sensors. There is a need for a compact, real-time and accessible system that can capture human movement and extract meaningful joint-level motion data using a single camera.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017520"/>
            <a:ext cx="7699248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3017520"/>
            <a:ext cx="91440" cy="1627632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3108960"/>
            <a:ext cx="7296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5A6"/>
                </a:solidFill>
                <a:latin typeface="Calibri"/>
              </a:rPr>
              <a:t>PROJECT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383280"/>
            <a:ext cx="7260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Develop a 2D + 3D human motion analysis system using a single Intel RealSense D455f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Detect human body joints and quantify movement parameters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Support both live camera input and recorded video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Provide a foundation for real-world 3D motion measurement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754880"/>
            <a:ext cx="7699248" cy="1719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4754880"/>
            <a:ext cx="91440" cy="1719072"/>
          </a:xfrm>
          <a:prstGeom prst="rect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4846320"/>
            <a:ext cx="7296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A338"/>
                </a:solidFill>
                <a:latin typeface="Calibri"/>
              </a:rPr>
              <a:t>CURRENT PROGRESS  —  2D PHASE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5120640"/>
            <a:ext cx="726033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33 body landmarks detected using MediaPipe Pose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Joint coordinates represented in RGB image pixels (u, v)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Elbow angles calculated in the image plane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Wrist trajectory and pixel velocity calculated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332"/>
                </a:solidFill>
                <a:latin typeface="Calibri"/>
              </a:rPr>
              <a:t>▸   CSV / video output and post-session analysis report implemented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2" y="1609344"/>
            <a:ext cx="3621024" cy="2487168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455f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1682496"/>
            <a:ext cx="3438144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39328" y="3493008"/>
            <a:ext cx="336499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FB5A6"/>
                </a:solidFill>
                <a:latin typeface="Calibri"/>
              </a:rPr>
              <a:t>INTEL REALSENSE  D455f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730752"/>
            <a:ext cx="33649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C5D4E8"/>
                </a:solidFill>
                <a:latin typeface="Calibri"/>
              </a:rPr>
              <a:t>Single RGB-D camera  ·  USB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4224528"/>
            <a:ext cx="3621024" cy="841248"/>
          </a:xfrm>
          <a:prstGeom prst="roundRect">
            <a:avLst>
              <a:gd name="adj" fmla="val 12000"/>
            </a:avLst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4315968"/>
            <a:ext cx="33284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2D   ·   COMPLETED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4590288"/>
            <a:ext cx="33284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FFFB"/>
                </a:solidFill>
                <a:latin typeface="Calibri"/>
              </a:rPr>
              <a:t>RGB joints, elbow °, wrist path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784080" y="5120640"/>
            <a:ext cx="475488" cy="256032"/>
          </a:xfrm>
          <a:prstGeom prst="downArrow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11312" y="5431536"/>
            <a:ext cx="362102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8A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5522976"/>
            <a:ext cx="33284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E8A338"/>
                </a:solidFill>
                <a:latin typeface="Calibri"/>
              </a:rPr>
              <a:t>3D   ·   NEXT PHASE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5797296"/>
            <a:ext cx="33284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678"/>
                </a:solidFill>
                <a:latin typeface="Calibri"/>
              </a:rPr>
              <a:t>Depth → camera metres / m/s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47104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Current status    ·    2D analysis completed     →     3D depth-based analysis is the next phase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53312"/>
            <a:ext cx="12191695" cy="64008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5A6"/>
                </a:solidFill>
                <a:latin typeface="Calibri"/>
              </a:rPr>
              <a:t>SLIDE 2   ·   SOLUTION  &amp;  SYSTEM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Proposed Solution — End-to-End Motion Analysis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3268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5D4E8"/>
                </a:solidFill>
                <a:latin typeface="Calibri"/>
              </a:rPr>
              <a:t>2D path is built     ·     dashed 3D path is the next phase, not 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554480"/>
            <a:ext cx="11484864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54480"/>
            <a:ext cx="91440" cy="530352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627632"/>
            <a:ext cx="111191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332"/>
                </a:solidFill>
                <a:latin typeface="Calibri"/>
              </a:rPr>
              <a:t>A single RGB-D camera captures the subject, MediaPipe extracts 33 body landmarks, and the system converts these landmarks into measurable motion parameters.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57984"/>
            <a:ext cx="5486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B5A6"/>
                </a:solidFill>
                <a:latin typeface="Calibri"/>
              </a:rPr>
              <a:t>BUILT   ·   2D MOTION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2414016"/>
            <a:ext cx="1960473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414016"/>
            <a:ext cx="1960473" cy="73152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560320"/>
            <a:ext cx="1777593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B5A6"/>
                </a:solidFill>
                <a:latin typeface="Calibri"/>
              </a:rPr>
              <a:t>01  INPUT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852928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926080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Live D455f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3346704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3419856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Uploaded video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151376"/>
            <a:ext cx="17775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6678"/>
                </a:solidFill>
                <a:latin typeface="Calibri"/>
              </a:rPr>
              <a:t>two sources, one pipeline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381097" y="3364992"/>
            <a:ext cx="256032" cy="182880"/>
          </a:xfrm>
          <a:prstGeom prst="right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28569" y="2414016"/>
            <a:ext cx="1960473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28569" y="2414016"/>
            <a:ext cx="1960473" cy="73152"/>
          </a:xfrm>
          <a:prstGeom prst="rect">
            <a:avLst/>
          </a:prstGeom>
          <a:solidFill>
            <a:srgbClr val="143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0009" y="2560320"/>
            <a:ext cx="1777593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43258"/>
                </a:solidFill>
                <a:latin typeface="Calibri"/>
              </a:rPr>
              <a:t>02  RGB FRAME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20009" y="2852928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74873" y="2926080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Colour frame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20009" y="3346704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4873" y="3419856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0009" y="4151376"/>
            <a:ext cx="17775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6678"/>
                </a:solidFill>
                <a:latin typeface="Calibri"/>
              </a:rPr>
              <a:t>image plane only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762195" y="3364992"/>
            <a:ext cx="256032" cy="182880"/>
          </a:xfrm>
          <a:prstGeom prst="right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09667" y="2414016"/>
            <a:ext cx="1960473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09667" y="2414016"/>
            <a:ext cx="1960473" cy="73152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01107" y="2560320"/>
            <a:ext cx="1777593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B5A6"/>
                </a:solidFill>
                <a:latin typeface="Calibri"/>
              </a:rPr>
              <a:t>03  MEDIAPIPE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01107" y="2852928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5971" y="2926080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33 landmarks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01107" y="3346704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5971" y="3419856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2D pixels (u, v)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1107" y="4151376"/>
            <a:ext cx="17775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6678"/>
                </a:solidFill>
                <a:latin typeface="Calibri"/>
              </a:rPr>
              <a:t>origin: top-left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143292" y="3364992"/>
            <a:ext cx="256032" cy="182880"/>
          </a:xfrm>
          <a:prstGeom prst="right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0764" y="2414016"/>
            <a:ext cx="1960473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0764" y="2414016"/>
            <a:ext cx="1960473" cy="73152"/>
          </a:xfrm>
          <a:prstGeom prst="rect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2204" y="2560320"/>
            <a:ext cx="1777593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A338"/>
                </a:solidFill>
                <a:latin typeface="Calibri"/>
              </a:rPr>
              <a:t>04  ANALYSIS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82204" y="2852928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7068" y="2926080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Elbow angle (image °)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2204" y="3346704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7068" y="3419856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Wrist trail + px/s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204" y="4151376"/>
            <a:ext cx="17775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6678"/>
                </a:solidFill>
                <a:latin typeface="Calibri"/>
              </a:rPr>
              <a:t>angles  +  trajectory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524390" y="3364992"/>
            <a:ext cx="256032" cy="182880"/>
          </a:xfrm>
          <a:prstGeom prst="right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871862" y="2414016"/>
            <a:ext cx="1960473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1862" y="2414016"/>
            <a:ext cx="1960473" cy="73152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63302" y="2560320"/>
            <a:ext cx="1777593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06C5C"/>
                </a:solidFill>
                <a:latin typeface="Calibri"/>
              </a:rPr>
              <a:t>05  OUTPUT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3302" y="2852928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8166" y="2926080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Visualization &amp; report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3302" y="3346704"/>
            <a:ext cx="1777593" cy="420624"/>
          </a:xfrm>
          <a:prstGeom prst="roundRect">
            <a:avLst>
              <a:gd name="adj" fmla="val 18000"/>
            </a:avLst>
          </a:prstGeom>
          <a:solidFill>
            <a:srgbClr val="F6F3EE"/>
          </a:solidFill>
          <a:ln w="9525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18166" y="3419856"/>
            <a:ext cx="16678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332"/>
                </a:solidFill>
                <a:latin typeface="Calibri"/>
              </a:rPr>
              <a:t>CSV + overlay video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3302" y="4151376"/>
            <a:ext cx="17775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6678"/>
                </a:solidFill>
                <a:latin typeface="Calibri"/>
              </a:rPr>
              <a:t>post-session graphs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" y="4645152"/>
            <a:ext cx="11484864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718304"/>
            <a:ext cx="112654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8A338"/>
                </a:solidFill>
                <a:latin typeface="Calibri"/>
              </a:rPr>
              <a:t>3D EXTENSION   ·   NEXT PHASE   ·   NOT IMPLEMENTED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" y="5029200"/>
            <a:ext cx="1945843" cy="1207008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 w="1587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3" y="5230368"/>
            <a:ext cx="1799539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2D pixel (u, v)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+ RealSense depth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531059" y="5541264"/>
            <a:ext cx="256032" cy="182880"/>
          </a:xfrm>
          <a:prstGeom prst="rightArrow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823667" y="5029200"/>
            <a:ext cx="1945843" cy="1207008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 w="1587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96819" y="5230368"/>
            <a:ext cx="1799539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Depth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alignment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824374" y="5541264"/>
            <a:ext cx="256032" cy="182880"/>
          </a:xfrm>
          <a:prstGeom prst="rightArrow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116982" y="5029200"/>
            <a:ext cx="1945843" cy="1207008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 w="1587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0134" y="5230368"/>
            <a:ext cx="1799539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3D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deprojection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117689" y="5541264"/>
            <a:ext cx="256032" cy="182880"/>
          </a:xfrm>
          <a:prstGeom prst="rightArrow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410297" y="5029200"/>
            <a:ext cx="1945843" cy="1207008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 w="1587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83449" y="5230368"/>
            <a:ext cx="1799539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Camera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coordinates (m)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9411004" y="5541264"/>
            <a:ext cx="256032" cy="182880"/>
          </a:xfrm>
          <a:prstGeom prst="rightArrow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703612" y="5029200"/>
            <a:ext cx="1945843" cy="1207008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 w="15875">
            <a:solidFill>
              <a:srgbClr val="E8A33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76764" y="5230368"/>
            <a:ext cx="1799539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3D motion</a:t>
            </a: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5A6678"/>
                </a:solidFill>
                <a:latin typeface="Calibri"/>
              </a:rPr>
              <a:t>/ speed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547104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Current implementation: RGB-based 2D motion analysis     ·     Next phase: RealSense depth integration for true 3D coordinates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53312"/>
            <a:ext cx="12191695" cy="64008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5A6"/>
                </a:solidFill>
                <a:latin typeface="Calibri"/>
              </a:rPr>
              <a:t>SLIDE 3   ·   TECHNOLOGY STACK  &amp; 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Technology Stack &amp;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3268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5D4E8"/>
                </a:solidFill>
                <a:latin typeface="Calibri"/>
              </a:rPr>
              <a:t>Modular 2D pipeline   ·   hardware, vision, app, data   ·   ready for depth later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536192"/>
            <a:ext cx="7571231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36192"/>
            <a:ext cx="91440" cy="749808"/>
          </a:xfrm>
          <a:prstGeom prst="rect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609344"/>
            <a:ext cx="72054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5A6"/>
                </a:solidFill>
                <a:latin typeface="Calibri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865376"/>
            <a:ext cx="7168895" cy="34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Intel RealSense D455f</a:t>
            </a:r>
            <a:r>
              <a:rPr sz="1200" b="0">
                <a:solidFill>
                  <a:srgbClr val="5A6678"/>
                </a:solidFill>
                <a:latin typeface="Calibri"/>
              </a:rPr>
              <a:t>    RGB-D camera  ·  USB 3.0  ·  future depth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2377439"/>
            <a:ext cx="757123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377439"/>
            <a:ext cx="91440" cy="1024128"/>
          </a:xfrm>
          <a:prstGeom prst="rect">
            <a:avLst/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450591"/>
            <a:ext cx="72054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A338"/>
                </a:solidFill>
                <a:latin typeface="Calibri"/>
              </a:rPr>
              <a:t>COMPUTER VISION  &amp; 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706623"/>
            <a:ext cx="71688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MediaPipe Pose</a:t>
            </a:r>
            <a:r>
              <a:rPr sz="1200" b="0">
                <a:solidFill>
                  <a:srgbClr val="5A6678"/>
                </a:solidFill>
                <a:latin typeface="Calibri"/>
              </a:rPr>
              <a:t>    33 body landmarks  ·  real-time pose estimation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OpenCV</a:t>
            </a:r>
            <a:r>
              <a:rPr sz="1200" b="0">
                <a:solidFill>
                  <a:srgbClr val="5A6678"/>
                </a:solidFill>
                <a:latin typeface="Calibri"/>
              </a:rPr>
              <a:t>    Frame processing  ·  video I/O  ·  overlay generation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3493008"/>
            <a:ext cx="7571231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493008"/>
            <a:ext cx="91440" cy="129844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566160"/>
            <a:ext cx="72054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06C5C"/>
                </a:solidFill>
                <a:latin typeface="Calibri"/>
              </a:rPr>
              <a:t>APPLICATION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822192"/>
            <a:ext cx="7168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Python</a:t>
            </a:r>
            <a:r>
              <a:rPr sz="1200" b="0">
                <a:solidFill>
                  <a:srgbClr val="5A6678"/>
                </a:solidFill>
                <a:latin typeface="Calibri"/>
              </a:rPr>
              <a:t>    Core processing pipeline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Tkinter</a:t>
            </a:r>
            <a:r>
              <a:rPr sz="1200" b="0">
                <a:solidFill>
                  <a:srgbClr val="5A6678"/>
                </a:solidFill>
                <a:latin typeface="Calibri"/>
              </a:rPr>
              <a:t>    Live UI  ·  camera / file  ·  session control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Matplotlib</a:t>
            </a:r>
            <a:r>
              <a:rPr sz="1200" b="0">
                <a:solidFill>
                  <a:srgbClr val="5A6678"/>
                </a:solidFill>
                <a:latin typeface="Calibri"/>
              </a:rPr>
              <a:t>    Post-session graphs  ·  angle / time  ·  statistics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" y="4882896"/>
            <a:ext cx="757123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4882896"/>
            <a:ext cx="91440" cy="1024128"/>
          </a:xfrm>
          <a:prstGeom prst="rect">
            <a:avLst/>
          </a:prstGeom>
          <a:solidFill>
            <a:srgbClr val="143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72054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3258"/>
                </a:solidFill>
                <a:latin typeface="Calibri"/>
              </a:rPr>
              <a:t>CONFIGURATION  &amp; 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5212080"/>
            <a:ext cx="716889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YAML</a:t>
            </a:r>
            <a:r>
              <a:rPr sz="1200" b="0">
                <a:solidFill>
                  <a:srgbClr val="5A6678"/>
                </a:solidFill>
                <a:latin typeface="Calibri"/>
              </a:rPr>
              <a:t>    Central config — camera, pose, analysis, output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CSV / JSON / MP4</a:t>
            </a:r>
            <a:r>
              <a:rPr sz="1200" b="0">
                <a:solidFill>
                  <a:srgbClr val="5A6678"/>
                </a:solidFill>
                <a:latin typeface="Calibri"/>
              </a:rPr>
              <a:t>    Motion data  ·  run metadata  ·  annotated video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536192"/>
            <a:ext cx="3749039" cy="43708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3023" y="1627632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B5A6"/>
                </a:solidFill>
                <a:latin typeface="Calibri"/>
              </a:rPr>
              <a:t>ARCHITECTURE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66175" y="1938528"/>
            <a:ext cx="3383279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9327" y="1975104"/>
            <a:ext cx="323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RealSense  /  Video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9857232" y="2386584"/>
            <a:ext cx="201168" cy="128016"/>
          </a:xfrm>
          <a:prstGeom prst="down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66175" y="2542032"/>
            <a:ext cx="3383279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7" y="2578608"/>
            <a:ext cx="323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Capture layer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9857232" y="2990088"/>
            <a:ext cx="201168" cy="128016"/>
          </a:xfrm>
          <a:prstGeom prst="down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66175" y="3145536"/>
            <a:ext cx="3383279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9327" y="3182112"/>
            <a:ext cx="323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Pose estimation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(MediaPipe)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857232" y="3593592"/>
            <a:ext cx="201168" cy="128016"/>
          </a:xfrm>
          <a:prstGeom prst="down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66175" y="3749040"/>
            <a:ext cx="3383279" cy="713232"/>
          </a:xfrm>
          <a:prstGeom prst="roundRect">
            <a:avLst>
              <a:gd name="adj" fmla="val 10000"/>
            </a:avLst>
          </a:prstGeom>
          <a:solidFill>
            <a:srgbClr val="143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76732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5D4E8"/>
                </a:solidFill>
                <a:latin typeface="Calibri"/>
              </a:rPr>
              <a:t>Motion analysis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4005072"/>
            <a:ext cx="1609343" cy="384048"/>
          </a:xfrm>
          <a:prstGeom prst="roundRect">
            <a:avLst>
              <a:gd name="adj" fmla="val 18000"/>
            </a:avLst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059936"/>
            <a:ext cx="16093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2D angles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85248" y="4005072"/>
            <a:ext cx="1609343" cy="384048"/>
          </a:xfrm>
          <a:prstGeom prst="roundRect">
            <a:avLst>
              <a:gd name="adj" fmla="val 18000"/>
            </a:avLst>
          </a:prstGeom>
          <a:solidFill>
            <a:srgbClr val="E8A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85248" y="4059936"/>
            <a:ext cx="16093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Wrist motion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9857232" y="4471416"/>
            <a:ext cx="201168" cy="128016"/>
          </a:xfrm>
          <a:prstGeom prst="down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66175" y="4626864"/>
            <a:ext cx="3383279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9327" y="4663440"/>
            <a:ext cx="323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Visualization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&amp; reporting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9857232" y="5074920"/>
            <a:ext cx="201168" cy="128016"/>
          </a:xfrm>
          <a:prstGeom prst="downArrow">
            <a:avLst/>
          </a:prstGeom>
          <a:solidFill>
            <a:srgbClr val="1F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266175" y="5230368"/>
            <a:ext cx="3383279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39327" y="5266944"/>
            <a:ext cx="323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A2332"/>
                </a:solidFill>
                <a:latin typeface="Calibri"/>
              </a:rPr>
              <a:t>CSV  /  video  /  report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7472" y="5998464"/>
            <a:ext cx="11484864" cy="420624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71616"/>
            <a:ext cx="11265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Built as a modular pipeline   →   ready for RealSense depth integration in the 3D phase.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547104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Jay   ·   IIT Guwahati   ·   python app.py   ·   config.yaml   ·   2D implemented, 3D not claimed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